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2011680" cy="320040"/>
          </a:xfrm>
          <a:prstGeom prst="rect">
            <a:avLst/>
          </a:prstGeom>
          <a:solidFill>
            <a:srgbClr val="0D281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58521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NanumBarunGothic"/>
              </a:rPr>
              <a:t>캡스톤 디자인 최종 발표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NanumBarunGothic"/>
              </a:rPr>
              <a:t>❄️  Freeze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94A3B8"/>
                </a:solidFill>
                <a:latin typeface="NanumBarunGothic"/>
              </a:rPr>
              <a:t>스마트 냉장고 식재료 관리 및 레시피 추천 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NanumBarunGothic"/>
              </a:rPr>
              <a:t>온디바이스 TinyML  ·  인터넷 불필요  ·  Galaxy S25 Ultra 실기기 구동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49039"/>
            <a:ext cx="2651760" cy="118872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886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NanumBarunGothic"/>
              </a:rPr>
              <a:t>👑 팀장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anumBarunGothic"/>
              </a:rPr>
              <a:t>유영서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NanumBarunGothic"/>
              </a:rPr>
              <a:t>AI · 아키텍처 ·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3749039"/>
            <a:ext cx="2651760" cy="118872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3886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NanumBarunGothic"/>
              </a:rPr>
              <a:t>💻 팀원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1605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anumBarunGothic"/>
              </a:rPr>
              <a:t>김문성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5720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NanumBarunGothic"/>
              </a:rPr>
              <a:t>UI/UX · 테스트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57200"/>
            <a:ext cx="2194560" cy="3904487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822960"/>
            <a:ext cx="2240280" cy="39867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155680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334155"/>
                </a:solidFill>
                <a:latin typeface="NanumBarunGothic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2011680" cy="320040"/>
          </a:xfrm>
          <a:prstGeom prst="rect">
            <a:avLst/>
          </a:prstGeom>
          <a:solidFill>
            <a:srgbClr val="0D281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480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NanumBarunGothic"/>
              </a:rPr>
              <a:t>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NanumBarunGothic"/>
              </a:rPr>
              <a:t>발표 목차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577840" cy="100584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470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C55E"/>
                </a:solidFill>
                <a:latin typeface="NanumBarun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81051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anumBarunGothic"/>
              </a:rPr>
              <a:t>프로젝트 개요 및 배경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286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NanumBarunGothic"/>
              </a:rPr>
              <a:t>문제 정의, 개발 동기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737360"/>
            <a:ext cx="5577840" cy="100584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470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C55E"/>
                </a:solidFill>
                <a:latin typeface="NanumBarun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9168" y="181051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anumBarunGothic"/>
              </a:rPr>
              <a:t>시스템 아키텍처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9168" y="2286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NanumBarunGothic"/>
              </a:rPr>
              <a:t>전체 구조, 기술 스택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5577840" cy="100584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0358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C55E"/>
                </a:solidFill>
                <a:latin typeface="NanumBarun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299923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anumBarunGothic"/>
              </a:rPr>
              <a:t>AI 모델 개발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4747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NanumBarunGothic"/>
              </a:rPr>
              <a:t>TFLite 학습, 온디바이스 추론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926080"/>
            <a:ext cx="5577840" cy="100584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0358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C55E"/>
                </a:solidFill>
                <a:latin typeface="NanumBarunGothi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299923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anumBarunGothic"/>
              </a:rPr>
              <a:t>주요 기능 시연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34747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NanumBarunGothic"/>
              </a:rPr>
              <a:t>카메라 인식, 냉장고 관리, 레시피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14800"/>
            <a:ext cx="5577840" cy="100584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2245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C55E"/>
                </a:solidFill>
                <a:latin typeface="NanumBarunGothi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8" y="418795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anumBarunGothic"/>
              </a:rPr>
              <a:t>성능 및 진척도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8" y="46634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NanumBarunGothic"/>
              </a:rPr>
              <a:t>완성도 87%, 지표 분석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114800"/>
            <a:ext cx="5577840" cy="100584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2245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C55E"/>
                </a:solidFill>
                <a:latin typeface="NanumBarunGothi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18795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anumBarunGothic"/>
              </a:rPr>
              <a:t>팀원 역할 분담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9168" y="46634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NanumBarunGothic"/>
              </a:rPr>
              <a:t>팀장/팀원 기여 사항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303520"/>
            <a:ext cx="5577840" cy="100584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4132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C55E"/>
                </a:solidFill>
                <a:latin typeface="NanumBarunGothi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07008" y="537667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anumBarunGothic"/>
              </a:rPr>
              <a:t>이슈 및 향후 계획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7008" y="58521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NanumBarunGothic"/>
              </a:rPr>
              <a:t>개선 방향, 로드맵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5303520"/>
            <a:ext cx="5577840" cy="100584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4132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C55E"/>
                </a:solidFill>
                <a:latin typeface="NanumBarunGothic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9168" y="537667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anumBarunGothic"/>
              </a:rPr>
              <a:t>결론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9168" y="58521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NanumBarunGothic"/>
              </a:rPr>
              <a:t>핵심 성과 정리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334155"/>
                </a:solidFill>
                <a:latin typeface="NanumBarunGothic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2011680" cy="320040"/>
          </a:xfrm>
          <a:prstGeom prst="rect">
            <a:avLst/>
          </a:prstGeom>
          <a:solidFill>
            <a:srgbClr val="0D281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480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NanumBarunGothic"/>
              </a:rPr>
              <a:t>01  프로젝트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anumBarunGothic"/>
              </a:rPr>
              <a:t>프로젝트 개요 및 배경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7772400" cy="1051560"/>
          </a:xfrm>
          <a:prstGeom prst="rect">
            <a:avLst/>
          </a:prstGeom>
          <a:solidFill>
            <a:srgbClr val="0D281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NanumBarunGothic"/>
              </a:rPr>
              <a:t>"냉장고 속 재료를 몰라서 유통기한을 넘기거나, 있는 재료로 뭘 만들지 모르는 경험, 누구나 있지 않나요?"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3520440" cy="352044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2004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NanumBarunGothic"/>
              </a:rP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840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NanumBarunGothic"/>
              </a:rPr>
              <a:t>TinyML 구현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3434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NanumBarunGothic"/>
              </a:rPr>
              <a:t>교수 요구사항
인터넷 없이 기기에서
AI 추론 완전 수행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3017520"/>
            <a:ext cx="3520440" cy="352044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32004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NanumBarunGothic"/>
              </a:rPr>
              <a:t>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3840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NanumBarunGothic"/>
              </a:rPr>
              <a:t>자동 식재료 인식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43434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NanumBarunGothic"/>
              </a:rPr>
              <a:t>카메라 촬영 한 번으로
36종 식재료 자동 분류
수량까지 자동 추정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3017520"/>
            <a:ext cx="3520440" cy="352044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32004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NanumBarunGothic"/>
              </a:rPr>
              <a:t>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3840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NanumBarunGothic"/>
              </a:rPr>
              <a:t>레시피 추천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43434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NanumBarunGothic"/>
              </a:rPr>
              <a:t>보유 재료 기반
식품안전처 레시피 DB
유통기한 임박 재료 우선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554480"/>
            <a:ext cx="1737360" cy="3090672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1828800"/>
            <a:ext cx="1920240" cy="341985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155680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334155"/>
                </a:solidFill>
                <a:latin typeface="NanumBarunGothic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2011680" cy="320040"/>
          </a:xfrm>
          <a:prstGeom prst="rect">
            <a:avLst/>
          </a:prstGeom>
          <a:solidFill>
            <a:srgbClr val="0D281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480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NanumBarunGothic"/>
              </a:rPr>
              <a:t>02  시스템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anumBarunGothic"/>
              </a:rPr>
              <a:t>시스템 아키텍처 및 기술 스택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8686800" cy="1005840"/>
          </a:xfrm>
          <a:prstGeom prst="rect">
            <a:avLst/>
          </a:prstGeom>
          <a:solidFill>
            <a:srgbClr val="0F1F14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54864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74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NanumBarunGothic"/>
              </a:rPr>
              <a:t>📱 Flutter UI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317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NanumBarunGothic"/>
              </a:rPr>
              <a:t>camera_screen  ·  fridge_screen  ·  recipe_screen  ·  profile_screen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26080"/>
            <a:ext cx="8686800" cy="1005840"/>
          </a:xfrm>
          <a:prstGeom prst="rect">
            <a:avLst/>
          </a:prstGeom>
          <a:solidFill>
            <a:srgbClr val="0F1F14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54864" cy="10058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NanumBarunGothic"/>
              </a:rPr>
              <a:t>⚙️ Business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4747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NanumBarunGothic"/>
              </a:rPr>
              <a:t>Provider 상태관리  ·  FoodClassifier  ·  QuantityEstimator  ·  RecipeService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69080"/>
            <a:ext cx="8686800" cy="1005840"/>
          </a:xfrm>
          <a:prstGeom prst="rect">
            <a:avLst/>
          </a:prstGeom>
          <a:solidFill>
            <a:srgbClr val="0F1F14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069080"/>
            <a:ext cx="54864" cy="10058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160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  <a:latin typeface="NanumBarunGothic"/>
              </a:rPr>
              <a:t>💾 Data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6177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NanumBarunGothic"/>
              </a:rPr>
              <a:t>SQLite (sqflite)  ·  SharedPreferences  ·  식품안전처 API  ·  Spoonacular 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212080"/>
            <a:ext cx="8686800" cy="1005840"/>
          </a:xfrm>
          <a:prstGeom prst="rect">
            <a:avLst/>
          </a:prstGeom>
          <a:solidFill>
            <a:srgbClr val="0F1F14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212080"/>
            <a:ext cx="54864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303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NanumBarunGothic"/>
              </a:rPr>
              <a:t>🤖 AI Layer (TinyML)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7607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NanumBarunGothic"/>
              </a:rPr>
              <a:t>MobileNetV2 2.7MB  ·  tflite_flutter 0.12.1  ·  INT8 Quantization  ·  온디바이스 추론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NanumBarunGothic"/>
              </a:rPr>
              <a:t>빌드 환경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240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NanumBarunGothic"/>
              </a:rPr>
              <a:t>• Android minSdk 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734056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NanumBarunGothic"/>
              </a:rPr>
              <a:t>• targetSdk 34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22783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NanumBarunGothic"/>
              </a:rPr>
              <a:t>• Kotlin DSL Gradle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72160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NanumBarunGothic"/>
              </a:rPr>
              <a:t>• TFLite noCompress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421538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NanumBarunGothic"/>
              </a:rPr>
              <a:t>• Galaxy S25 Ultra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334155"/>
                </a:solidFill>
                <a:latin typeface="NanumBarunGothic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2011680" cy="320040"/>
          </a:xfrm>
          <a:prstGeom prst="rect">
            <a:avLst/>
          </a:prstGeom>
          <a:solidFill>
            <a:srgbClr val="0D281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480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NanumBarunGothic"/>
              </a:rPr>
              <a:t>03  AI 모델 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anumBarunGothic"/>
              </a:rPr>
              <a:t>TinyML 모델 개발 과정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2697480" cy="205740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NanumBarunGothic"/>
              </a:rPr>
              <a:t>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NanumBarunGothic"/>
              </a:rPr>
              <a:t>데이터 수집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NanumBarunGothic"/>
              </a:rPr>
              <a:t>kritikseth 데이터셋
36종 · 3,115장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6060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2C55E"/>
                </a:solidFill>
                <a:latin typeface="NanumBarun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737360"/>
            <a:ext cx="2697480" cy="205740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87451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NanumBarunGothic"/>
              </a:rPr>
              <a:t>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231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NanumBarunGothic"/>
              </a:rPr>
              <a:t>전이학습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8346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NanumBarunGothic"/>
              </a:rPr>
              <a:t>MobileNetV2
ImageNet Pretrained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6060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2C55E"/>
                </a:solidFill>
                <a:latin typeface="NanumBarunGothic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737360"/>
            <a:ext cx="2697480" cy="2057400"/>
          </a:xfrm>
          <a:prstGeom prst="rect">
            <a:avLst/>
          </a:prstGeom>
          <a:solidFill>
            <a:srgbClr val="0F1F1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87451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NanumBarunGothic"/>
              </a:rP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231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NanumBarunGothic"/>
              </a:rPr>
              <a:t>TFLite 변환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8346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NanumBarunGothic"/>
              </a:rPr>
              <a:t>INT8 Quantization
10MB → 2.7MB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6060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2C55E"/>
                </a:solidFill>
                <a:latin typeface="NanumBarun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1737360"/>
            <a:ext cx="2697480" cy="205740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87451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NanumBarunGothic"/>
              </a:rPr>
              <a:t>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4231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NanumBarunGothic"/>
              </a:rPr>
              <a:t>앱 탑재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8346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NanumBarunGothic"/>
              </a:rPr>
              <a:t>tflite_flutter 0.12.1
실기기 추론 확인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977639"/>
            <a:ext cx="2651760" cy="1143000"/>
          </a:xfrm>
          <a:prstGeom prst="rect">
            <a:avLst/>
          </a:prstGeom>
          <a:solidFill>
            <a:srgbClr val="0D281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04164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2C55E"/>
                </a:solidFill>
                <a:latin typeface="NanumBarunGothic"/>
              </a:rPr>
              <a:t>2.7 MB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62686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NanumBarunGothic"/>
              </a:rPr>
              <a:t>모델 크기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3977639"/>
            <a:ext cx="2651760" cy="1143000"/>
          </a:xfrm>
          <a:prstGeom prst="rect">
            <a:avLst/>
          </a:prstGeom>
          <a:solidFill>
            <a:srgbClr val="0D281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0" y="404164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2C55E"/>
                </a:solidFill>
                <a:latin typeface="NanumBarunGothic"/>
              </a:rPr>
              <a:t>&lt; 1 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462686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NanumBarunGothic"/>
              </a:rPr>
              <a:t>추론 속도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977639"/>
            <a:ext cx="2651760" cy="1143000"/>
          </a:xfrm>
          <a:prstGeom prst="rect">
            <a:avLst/>
          </a:prstGeom>
          <a:solidFill>
            <a:srgbClr val="0D281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404164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2C55E"/>
                </a:solidFill>
                <a:latin typeface="NanumBarunGothic"/>
              </a:rPr>
              <a:t>36 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62686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NanumBarunGothic"/>
              </a:rPr>
              <a:t>인식 클래스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3977639"/>
            <a:ext cx="2651760" cy="1143000"/>
          </a:xfrm>
          <a:prstGeom prst="rect">
            <a:avLst/>
          </a:prstGeom>
          <a:solidFill>
            <a:srgbClr val="0D281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404164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2C55E"/>
                </a:solidFill>
                <a:latin typeface="NanumBarunGothic"/>
              </a:rPr>
              <a:t>Tesla T4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62686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NanumBarunGothic"/>
              </a:rPr>
              <a:t>학습 GPU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F24"/>
                </a:solidFill>
                <a:latin typeface="NanumBarunGothic"/>
              </a:rPr>
              <a:t>⚠️  현재 한계: 해외 학습 데이터로 인한 도메인 불일치 → 1.6TB 한국 데이터 재학습 예정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334155"/>
                </a:solidFill>
                <a:latin typeface="NanumBarunGothic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2011680" cy="320040"/>
          </a:xfrm>
          <a:prstGeom prst="rect">
            <a:avLst/>
          </a:prstGeom>
          <a:solidFill>
            <a:srgbClr val="0D281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480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NanumBarunGothic"/>
              </a:rPr>
              <a:t>04  주요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anumBarunGothic"/>
              </a:rPr>
              <a:t>주요 기능 시연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1463040" cy="26060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4480560"/>
            <a:ext cx="3566160" cy="210312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4617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NanumBarunGothic"/>
              </a:rPr>
              <a:t>카메라 식재료 인식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50749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NanumBarunGothic"/>
              </a:rPr>
              <a:t>• MobileNetV2 온디바이스 추론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55321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NanumBarunGothic"/>
              </a:rPr>
              <a:t>• 상위 3개 후보 신뢰도 표시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59893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NanumBarunGothic"/>
              </a:rPr>
              <a:t>• 수량 자동 추정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691640"/>
            <a:ext cx="1463040" cy="26060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343400" y="4480560"/>
            <a:ext cx="3566160" cy="210312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617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NanumBarunGothic"/>
              </a:rPr>
              <a:t>냉장고 재고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50749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NanumBarunGothic"/>
              </a:rPr>
              <a:t>• 식재료 자동 등록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55321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NanumBarunGothic"/>
              </a:rPr>
              <a:t>• 유통기한 D-Day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59893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NanumBarunGothic"/>
              </a:rPr>
              <a:t>• 슬라이드 삭제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1691640"/>
            <a:ext cx="1463040" cy="260604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321040" y="4480560"/>
            <a:ext cx="3566160" cy="210312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5632" y="4617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NanumBarunGothic"/>
              </a:rPr>
              <a:t>레시피 추천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50749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NanumBarunGothic"/>
              </a:rPr>
              <a:t>• 보유 재료 기반 추천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55321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NanumBarunGothic"/>
              </a:rPr>
              <a:t>• 식품안전처 DB 연동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59893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NanumBarunGothic"/>
              </a:rPr>
              <a:t>• 조리 시간·영양 정보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334155"/>
                </a:solidFill>
                <a:latin typeface="NanumBarunGothic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2011680" cy="320040"/>
          </a:xfrm>
          <a:prstGeom prst="rect">
            <a:avLst/>
          </a:prstGeom>
          <a:solidFill>
            <a:srgbClr val="0D281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480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NanumBarunGothic"/>
              </a:rPr>
              <a:t>05  성능 및 진척도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anumBarunGothic"/>
              </a:rPr>
              <a:t>완성도 및 기능 단위 진척도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NanumBarunGothic"/>
              </a:rPr>
              <a:t>냉장고 관리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73736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  <a:latin typeface="NanumBarunGothic"/>
              </a:rPr>
              <a:t>95%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828800"/>
            <a:ext cx="4572000" cy="1645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1828800"/>
            <a:ext cx="4343400" cy="1645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NanumBarunGothic"/>
              </a:rPr>
              <a:t>레시피 추천 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56032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  <a:latin typeface="NanumBarunGothic"/>
              </a:rPr>
              <a:t>90%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2651760"/>
            <a:ext cx="4572000" cy="1645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2651760"/>
            <a:ext cx="4114800" cy="1645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3832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NanumBarunGothic"/>
              </a:rPr>
              <a:t>프로필 / 로그인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38328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  <a:latin typeface="NanumBarunGothic"/>
              </a:rPr>
              <a:t>95%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3474720"/>
            <a:ext cx="4572000" cy="1645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3474720"/>
            <a:ext cx="4343400" cy="1645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2062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NanumBarunGothic"/>
              </a:rPr>
              <a:t>카메라 인식 기능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20624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  <a:latin typeface="NanumBarunGothic"/>
              </a:rPr>
              <a:t>85%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4297680"/>
            <a:ext cx="4572000" cy="1645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0" y="4297680"/>
            <a:ext cx="3886200" cy="1645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NanumBarunGothic"/>
              </a:rPr>
              <a:t>모델 인식 정확도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502920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NanumBarunGothic"/>
              </a:rPr>
              <a:t>70%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5120640"/>
            <a:ext cx="4572000" cy="1645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0" y="5120640"/>
            <a:ext cx="32004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806440"/>
            <a:ext cx="8503920" cy="685800"/>
          </a:xfrm>
          <a:prstGeom prst="rect">
            <a:avLst/>
          </a:prstGeom>
          <a:solidFill>
            <a:srgbClr val="0D2818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9253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anumBarunGothic"/>
              </a:rPr>
              <a:t>전체 완성도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8704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C55E"/>
                </a:solidFill>
                <a:latin typeface="NanumBarunGothic"/>
              </a:rPr>
              <a:t>87 %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69680" y="1691640"/>
            <a:ext cx="731520" cy="146304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0" y="1828800"/>
            <a:ext cx="749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NanumBarunGothic"/>
              </a:rPr>
              <a:t>36종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2487168"/>
            <a:ext cx="749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NanumBarunGothic"/>
              </a:rPr>
              <a:t>식재료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74352" y="1691640"/>
            <a:ext cx="731520" cy="146304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74352" y="1828800"/>
            <a:ext cx="749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NanumBarunGothic"/>
              </a:rPr>
              <a:t>2.7MB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4352" y="2487168"/>
            <a:ext cx="749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NanumBarunGothic"/>
              </a:rPr>
              <a:t>모델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479024" y="1691640"/>
            <a:ext cx="731520" cy="146304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79024" y="1828800"/>
            <a:ext cx="749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NanumBarunGothic"/>
              </a:rPr>
              <a:t>3,115장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79024" y="2487168"/>
            <a:ext cx="749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NanumBarunGothic"/>
              </a:rPr>
              <a:t>데이터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283696" y="1691640"/>
            <a:ext cx="731520" cy="146304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83696" y="1828800"/>
            <a:ext cx="749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NanumBarunGothic"/>
              </a:rPr>
              <a:t>&lt;1초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3696" y="2487168"/>
            <a:ext cx="749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NanumBarunGothic"/>
              </a:rPr>
              <a:t>추론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334155"/>
                </a:solidFill>
                <a:latin typeface="NanumBarunGothic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2011680" cy="320040"/>
          </a:xfrm>
          <a:prstGeom prst="rect">
            <a:avLst/>
          </a:prstGeom>
          <a:solidFill>
            <a:srgbClr val="0D281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480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NanumBarunGothic"/>
              </a:rPr>
              <a:t>06  팀원 역할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anumBarunGothic"/>
              </a:rPr>
              <a:t>팀원 및 역할 분담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532120" cy="4937760"/>
          </a:xfrm>
          <a:prstGeom prst="rect">
            <a:avLst/>
          </a:prstGeom>
          <a:solidFill>
            <a:srgbClr val="0F1F1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5532120" cy="731520"/>
          </a:xfrm>
          <a:prstGeom prst="rect">
            <a:avLst/>
          </a:prstGeom>
          <a:solidFill>
            <a:srgbClr val="0A180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81051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NanumBarunGothic"/>
              </a:rPr>
              <a:t>👑  TEAM LEADER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031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anumBarunGothic"/>
              </a:rPr>
              <a:t>유영서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606040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NanumBarunGothic"/>
              </a:rPr>
              <a:t>• Flutter 전체 아키텍처 설계 및 Android 빌드 환경 구성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264408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NanumBarunGothic"/>
              </a:rPr>
              <a:t>• TFLite AI 파이프라인 구현 (FoodClassifier · QuantityEstimator)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922776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NanumBarunGothic"/>
              </a:rPr>
              <a:t>• Kaggle GPU MobileNetV2 학습 및 TFLite 변환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581144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NanumBarunGothic"/>
              </a:rPr>
              <a:t>• 소셜 로그인(Kakao/Google) · 레시피 API 연동 · OCR 병렬처리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239512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NanumBarunGothic"/>
              </a:rPr>
              <a:t>• 한국 식품 키워드 DB 구축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691640"/>
            <a:ext cx="5532120" cy="4937760"/>
          </a:xfrm>
          <a:prstGeom prst="rect">
            <a:avLst/>
          </a:prstGeom>
          <a:solidFill>
            <a:srgbClr val="0F1F14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691640"/>
            <a:ext cx="5532120" cy="731520"/>
          </a:xfrm>
          <a:prstGeom prst="rect">
            <a:avLst/>
          </a:prstGeom>
          <a:solidFill>
            <a:srgbClr val="0A180F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8" y="181051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NanumBarunGothic"/>
              </a:rPr>
              <a:t>💻  TEAM MEMBER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21031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anumBarunGothic"/>
              </a:rPr>
              <a:t>김문성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606040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NanumBarunGothic"/>
              </a:rPr>
              <a:t>• 전체 UI/UX 디자인 및 화면 구성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3264408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NanumBarunGothic"/>
              </a:rPr>
              <a:t>• 냉장고 식재료 관리 화면 개발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3922776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NanumBarunGothic"/>
              </a:rPr>
              <a:t>• 레시피 목록 / 상세 화면 · 프로필 화면 개발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4581144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NanumBarunGothic"/>
              </a:rPr>
              <a:t>• 기능 테스트 및 버그 리포트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5239512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NanumBarunGothic"/>
              </a:rPr>
              <a:t>• 발표 자료 준비 · 사용자 시나리오 검토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334155"/>
                </a:solidFill>
                <a:latin typeface="NanumBarunGothic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2011680" cy="320040"/>
          </a:xfrm>
          <a:prstGeom prst="rect">
            <a:avLst/>
          </a:prstGeom>
          <a:solidFill>
            <a:srgbClr val="0D281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480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NanumBarunGothic"/>
              </a:rPr>
              <a:t>07  이슈 및 향후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anumBarunGothic"/>
              </a:rPr>
              <a:t>현재 이슈 및 향후 계획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3383280"/>
          </a:xfrm>
          <a:prstGeom prst="rect">
            <a:avLst/>
          </a:prstGeom>
          <a:solidFill>
            <a:srgbClr val="18080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CACA"/>
                </a:solidFill>
                <a:latin typeface="NanumBarunGothic"/>
              </a:rPr>
              <a:t>⚠️  현재 이슈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CACA"/>
                </a:solidFill>
                <a:latin typeface="NanumBarunGothic"/>
              </a:rPr>
              <a:t>• 복숭아 → 감자(56%) · 가지 → 오이 오분류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175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CACA"/>
                </a:solidFill>
                <a:latin typeface="NanumBarunGothic"/>
              </a:rPr>
              <a:t>• 해외 합성 이미지 도메인 불일치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033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CACA"/>
                </a:solidFill>
                <a:latin typeface="NanumBarunGothic"/>
              </a:rPr>
              <a:t>• 백도·청양고추 등 한국 특화 품종 미지원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691640"/>
            <a:ext cx="5486400" cy="3383280"/>
          </a:xfrm>
          <a:prstGeom prst="rect">
            <a:avLst/>
          </a:prstGeom>
          <a:solidFill>
            <a:srgbClr val="08180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NanumBarunGothic"/>
              </a:rPr>
              <a:t>✅  대응 방안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331720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6EFAC"/>
                </a:solidFill>
                <a:latin typeface="NanumBarunGothic"/>
              </a:rPr>
              <a:t>• 1.6TB 한국 식재료 데이터셋 재학습 예정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990087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6EFAC"/>
                </a:solidFill>
                <a:latin typeface="NanumBarunGothic"/>
              </a:rPr>
              <a:t>• RTX 5080 로컬 PC + CUDA 12.8 환경 구성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648456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6EFAC"/>
                </a:solidFill>
                <a:latin typeface="NanumBarunGothic"/>
              </a:rPr>
              <a:t>• 한국 특화 100종 이상 클래스 확장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306824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6EFAC"/>
                </a:solidFill>
                <a:latin typeface="NanumBarunGothic"/>
              </a:rPr>
              <a:t>• 신뢰도 낮을 때 수동 입력 유도 UX 추가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257800"/>
            <a:ext cx="5303520" cy="54864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3675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NanumBarunGothic"/>
              </a:rPr>
              <a:t>단기: 한국 데이터 재학습 → 정확도 85%+ 목표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5257800"/>
            <a:ext cx="5486400" cy="54864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53675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NanumBarunGothic"/>
              </a:rPr>
              <a:t>장기: 1.6TB 전체 학습 → 한국 식문화 특화 AI 완성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334155"/>
                </a:solidFill>
                <a:latin typeface="NanumBarunGothic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22C55E"/>
                </a:solidFill>
                <a:latin typeface="NanumBarunGothic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  <a:latin typeface="NanumBarunGothic"/>
              </a:rPr>
              <a:t>스마트 냉장고 Freeze — 최종 발표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34640"/>
            <a:ext cx="2743200" cy="594360"/>
          </a:xfrm>
          <a:prstGeom prst="rect">
            <a:avLst/>
          </a:prstGeom>
          <a:solidFill>
            <a:srgbClr val="0F1F1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NanumBarunGothic"/>
              </a:rPr>
              <a:t>✅ TinyML 온디바이스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834640"/>
            <a:ext cx="2743200" cy="594360"/>
          </a:xfrm>
          <a:prstGeom prst="rect">
            <a:avLst/>
          </a:prstGeom>
          <a:solidFill>
            <a:srgbClr val="0F1F1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926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NanumBarunGothic"/>
              </a:rPr>
              <a:t>✅ 36종 식재료 인식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834640"/>
            <a:ext cx="2743200" cy="594360"/>
          </a:xfrm>
          <a:prstGeom prst="rect">
            <a:avLst/>
          </a:prstGeom>
          <a:solidFill>
            <a:srgbClr val="0F1F1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926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NanumBarunGothic"/>
              </a:rPr>
              <a:t>✅ 실기기 구동 완료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2834640"/>
            <a:ext cx="2743200" cy="594360"/>
          </a:xfrm>
          <a:prstGeom prst="rect">
            <a:avLst/>
          </a:prstGeom>
          <a:solidFill>
            <a:srgbClr val="0F1F1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2926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NanumBarunGothic"/>
              </a:rPr>
              <a:t>✅ 전체 플로우 완성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3840480"/>
            <a:ext cx="5486400" cy="1737360"/>
          </a:xfrm>
          <a:prstGeom prst="rect">
            <a:avLst/>
          </a:prstGeom>
          <a:solidFill>
            <a:srgbClr val="0F1F1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4005072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2C55E"/>
                </a:solidFill>
                <a:latin typeface="NanumBarunGothic"/>
              </a:rPr>
              <a:t>Q &amp;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62686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  <a:latin typeface="NanumBarunGothic"/>
              </a:rPr>
              <a:t>질문이 있으시면 말씀해 주세요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334155"/>
                </a:solidFill>
                <a:latin typeface="NanumBarunGothic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