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926080" cy="347472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맑은 고딕"/>
              </a:rPr>
              <a:t>🎓  캡스톤 디자인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맑은 고딕"/>
              </a:rPr>
              <a:t>❄️  Freeze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7860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맑은 고딕"/>
              </a:rPr>
              <a:t>스마트 냉장고 식재료 관리 및 레시피 추천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272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맑은 고딕"/>
              </a:rPr>
              <a:t>온디바이스 TinyML(TFLite) 기반  ·  인터넷 불필요  ·  실기기 구동 완료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57600"/>
            <a:ext cx="2011680" cy="10058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4903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맑은 고딕"/>
              </a:rPr>
              <a:t>👑 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416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유영서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657600"/>
            <a:ext cx="2011680" cy="10058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74903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맑은 고딕"/>
              </a:rPr>
              <a:t>💻 팀원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40416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김문성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731520"/>
            <a:ext cx="2011680" cy="356616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097280"/>
            <a:ext cx="1828800" cy="32552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맑은 고딕"/>
              </a:rPr>
              <a:t>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최종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657600" cy="411480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맑은 고딕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온디바이스 TinyML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인터넷 연결 없이 기기 자체에서
AI 추론 · 교수 요구사항 완전 충족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657600" cy="411480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맑은 고딕"/>
              </a:rPr>
              <a:t>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실시간 식재료 인식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246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MobileNetV2 기반 36종 식재료
카메라 촬영으로 자동 분류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3657600" cy="411480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103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맑은 고딕"/>
              </a:rPr>
              <a:t>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743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맑은 고딕"/>
              </a:rPr>
              <a:t>스마트 냉장고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246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냉장고 재고 자동 등록
유통기한 관리 · 레시피 추천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맑은 고딕"/>
              </a:rPr>
              <a:t>성과물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최종 성과물 및 기여 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02920" cy="50292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맑은 고딕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470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Flutter Android 앱 완성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6712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Galaxy S25 Ultra 실기기 구동 확인 완료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80360"/>
            <a:ext cx="502920" cy="50292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맑은 고딕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98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MobileNetV2 TFLite 모델 탑재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186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2.7MB 경량 모델 · 36종 식재료 인식 · Kaggle Tesla T4 GPU로 학습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31920"/>
            <a:ext cx="502920" cy="50292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977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맑은 고딕"/>
              </a:rP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5020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전체 사용자 플로우 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702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촬영 → AI분류 → 냉장고등록 → 레시피추천 End-to-End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83479"/>
            <a:ext cx="502920" cy="50292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0291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맑은 고딕"/>
              </a:rPr>
              <a:t>🍽️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01767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레시피 API 연동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21807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식품안전처 레시피 API + Spoonacular 이미지 AI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2194560" cy="390448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맑은 고딕"/>
              </a:rPr>
              <a:t>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팀원 및 팀장 역할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577840" cy="484632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맑은 고딕"/>
              </a:rPr>
              <a:t>👑 TEAM LEADER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214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유영서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• Flutter 앱 전체 아키텍처 설계 및 Android 빌드 환경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5584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• TFLite AI 파이프라인 구현 (food_classifier, quantity_estimator)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1421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• Kaggle GPU에서 MobileNetV2 학습 및 TFLite 변환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7258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• 소셜 로그인 (Kakao / Google)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3095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• 식품안전처 레시피 API · OCR + AI 병렬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5577840" cy="484632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맑은 고딕"/>
              </a:rPr>
              <a:t>💻 TEAM 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214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김문성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974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• 전체 UI/UX 디자인 및 화면 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5584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• 냉장고 식재료 관리 화면 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01421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• 레시피 목록 / 상세 화면 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7258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• 테스트 및 버그 리포트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330952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• 발표 자료 준비 · 사용자 시나리오 검토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맑은 고딕"/>
              </a:rPr>
              <a:t>환경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개발 환경 및 도구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486400" cy="201168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맑은 고딕"/>
              </a:rPr>
              <a:t>📱 프론트엔드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Flutter 3.32 / Dart
Provider · SQLite(sqflite)
Google Fonts · Lottie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486400" cy="201168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맑은 고딕"/>
              </a:rPr>
              <a:t>🤖 AI /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tflite_flutter 0.12.1
MobileNetV2 (ImageNet)
Kaggle Tesla T4 GPU
INT8 Quantization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14800"/>
            <a:ext cx="5486400" cy="201168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맑은 고딕"/>
              </a:rPr>
              <a:t>🔌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7091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식품안전처 레시피 API
Spoonacular API
Kakao / Google 소셜 로그인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5486400" cy="201168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맑은 고딕"/>
              </a:rPr>
              <a:t>⚙️ 빌드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7091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맑은 고딕"/>
              </a:rPr>
              <a:t>Android (minSdk 21)
Gradle Kotlin DSL
TFLite noCompress
Galaxy S25 Ultra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맑은 고딕"/>
              </a:rPr>
              <a:t>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주요 기능 및 기술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103120" cy="10058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1051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맑은 고딕"/>
              </a:rPr>
              <a:t>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맑은 고딕"/>
              </a:rPr>
              <a:t>카메라 촬영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659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2C55E"/>
                </a:solidFill>
                <a:latin typeface="맑은 고딕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737360"/>
            <a:ext cx="2103120" cy="10058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1051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맑은 고딕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맑은 고딕"/>
              </a:rPr>
              <a:t>AI 인식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9659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2C55E"/>
                </a:solidFill>
                <a:latin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737360"/>
            <a:ext cx="2103120" cy="10058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81051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맑은 고딕"/>
              </a:rPr>
              <a:t>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맑은 고딕"/>
              </a:rPr>
              <a:t>냉장고 등록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19659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2C55E"/>
                </a:solidFill>
                <a:latin typeface="맑은 고딕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59" y="1737360"/>
            <a:ext cx="2103120" cy="10058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81051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맑은 고딕"/>
              </a:rPr>
              <a:t>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799" y="2240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맑은 고딕"/>
              </a:rPr>
              <a:t>레시피 추천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71800"/>
            <a:ext cx="7772400" cy="96012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449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맑은 고딕"/>
              </a:rPr>
              <a:t>🤖 온디바이스 TinyML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392424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MobileNetV2 2.7MB · 36종 식재료 · 수량 자동 추정 · 인터넷 불필요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69080"/>
            <a:ext cx="7772400" cy="96012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422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맑은 고딕"/>
              </a:rPr>
              <a:t>📋 냉장고 재고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489704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유통기한 D-Day 알림 · 카테고리 분류 · 슬라이드 삭제 · 실시간 동기화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166360"/>
            <a:ext cx="7772400" cy="96012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2395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맑은 고딕"/>
              </a:rPr>
              <a:t>🍽️ 레시피 추천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586983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보유 식재료 기반 · 식품안전처 DB · 영양 정보 · 조리 시간 안내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371600"/>
            <a:ext cx="1828800" cy="32552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맑은 고딕"/>
              </a:rPr>
              <a:t>진척도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완성도 및 기능 단위 진척도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🧊 냉장고 관리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맑은 고딕"/>
              </a:rPr>
              <a:t>95%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12848"/>
            <a:ext cx="5029200" cy="1645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212848"/>
            <a:ext cx="4777740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7249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🍳 레시피 추천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72491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맑은 고딕"/>
              </a:rPr>
              <a:t>90%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5029200" cy="1645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4526280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6210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👤 프로필 / 로그인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62102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맑은 고딕"/>
              </a:rPr>
              <a:t>95%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05072"/>
            <a:ext cx="5029200" cy="1645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005072"/>
            <a:ext cx="4777740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5171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📸 카메라 인식 기능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51713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맑은 고딕"/>
              </a:rPr>
              <a:t>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01184"/>
            <a:ext cx="5029200" cy="1645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901184"/>
            <a:ext cx="4274820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4132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🤖 모델 인식 정확도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41324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맑은 고딕"/>
              </a:rPr>
              <a:t>70%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797296"/>
            <a:ext cx="5029200" cy="1645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797296"/>
            <a:ext cx="352044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577840"/>
            <a:ext cx="5120640" cy="685800"/>
          </a:xfrm>
          <a:prstGeom prst="rect">
            <a:avLst/>
          </a:prstGeom>
          <a:solidFill>
            <a:srgbClr val="0D281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5099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맑은 고딕"/>
              </a:rPr>
              <a:t>전체 완성도  87%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828800"/>
            <a:ext cx="2743200" cy="19202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1488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2C55E"/>
                </a:solidFill>
                <a:latin typeface="맑은 고딕"/>
              </a:rPr>
              <a:t>36종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인식 가능 식재료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1828800"/>
            <a:ext cx="2743200" cy="19202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21488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2C55E"/>
                </a:solidFill>
                <a:latin typeface="맑은 고딕"/>
              </a:rPr>
              <a:t>2.7MB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063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TFLite 모델 크기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114800"/>
            <a:ext cx="2743200" cy="19202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4348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2C55E"/>
                </a:solidFill>
                <a:latin typeface="맑은 고딕"/>
              </a:rPr>
              <a:t>3,115장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학습 데이터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4114800"/>
            <a:ext cx="2743200" cy="192024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43484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2C55E"/>
                </a:solidFill>
                <a:latin typeface="맑은 고딕"/>
              </a:rPr>
              <a:t>&lt;1초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추론 속도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맑은 고딕"/>
              </a:rPr>
              <a:t>이슈 /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향후 과제 및 이슈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394960" cy="2926080"/>
          </a:xfrm>
          <a:prstGeom prst="rect">
            <a:avLst/>
          </a:prstGeom>
          <a:solidFill>
            <a:srgbClr val="180A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105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CA5A5"/>
                </a:solidFill>
                <a:latin typeface="맑은 고딕"/>
              </a:rPr>
              <a:t>⚠️ 현재 이슈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CACA"/>
                </a:solidFill>
                <a:latin typeface="맑은 고딕"/>
              </a:rPr>
              <a:t>• 오인식: 복숭아→감자(56%), 가지→오이 오분류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9864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CACA"/>
                </a:solidFill>
                <a:latin typeface="맑은 고딕"/>
              </a:rPr>
              <a:t>• 도메인 불일치: 해외 데이터 vs 한국 실환경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5701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CACA"/>
                </a:solidFill>
                <a:latin typeface="맑은 고딕"/>
              </a:rPr>
              <a:t>• 품종 미지원: 백도, 청양고추 등 한국 특화 미인식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5577840" cy="2926080"/>
          </a:xfrm>
          <a:prstGeom prst="rect">
            <a:avLst/>
          </a:prstGeom>
          <a:solidFill>
            <a:srgbClr val="0A180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105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맑은 고딕"/>
              </a:rPr>
              <a:t>✅ 대응 방안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맑은 고딕"/>
              </a:rPr>
              <a:t>• 1.6TB 한국 식재료 데이터셋으로 재학습 예정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9864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맑은 고딕"/>
              </a:rPr>
              <a:t>• RTX 5080 로컬 PC + CUDA 12.8 학습 환경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5701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맑은 고딕"/>
              </a:rPr>
              <a:t>• 쌀 품종 등 한국 특화 100+ 클래스로 확장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1538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맑은 고딕"/>
              </a:rPr>
              <a:t>• 신뢰도 낮을 때 수동 입력 유도 UX 추가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54880"/>
            <a:ext cx="1645920" cy="2926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377440" y="4754880"/>
            <a:ext cx="4114800" cy="86868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48920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단기: 한국 데이터 서브샘플링 → Kaggle 재학습 → 정확도 85%+ 달성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5715000"/>
            <a:ext cx="4114800" cy="868680"/>
          </a:xfrm>
          <a:prstGeom prst="rect">
            <a:avLst/>
          </a:prstGeom>
          <a:solidFill>
            <a:srgbClr val="0F1F14"/>
          </a:solidFill>
          <a:ln w="12700">
            <a:solidFill>
              <a:srgbClr val="1E3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58521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장기: 1.6TB 전체 로컬 학습 → 한국 식문화 특화 모델 완성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22C55E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  <a:latin typeface="맑은 고딕"/>
              </a:rPr>
              <a:t>스마트 냉장고 Freeze 프로젝트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2651760" cy="5486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547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맑은 고딕"/>
              </a:rPr>
              <a:t>✅ TinyML 구현 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3474720"/>
            <a:ext cx="2651760" cy="5486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79" y="3547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맑은 고딕"/>
              </a:rPr>
              <a:t>✅ 실기기 구동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474720"/>
            <a:ext cx="2651760" cy="5486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547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맑은 고딕"/>
              </a:rPr>
              <a:t>✅ 36종 식재료 인식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3474720"/>
            <a:ext cx="2651760" cy="548640"/>
          </a:xfrm>
          <a:prstGeom prst="rect">
            <a:avLst/>
          </a:prstGeom>
          <a:solidFill>
            <a:srgbClr val="0D2818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3547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맑은 고딕"/>
              </a:rPr>
              <a:t>✅ 전체 플로우 완성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389120"/>
            <a:ext cx="5760720" cy="1554480"/>
          </a:xfrm>
          <a:prstGeom prst="rect">
            <a:avLst/>
          </a:prstGeom>
          <a:solidFill>
            <a:srgbClr val="0D281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5262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C55E"/>
                </a:solidFill>
                <a:latin typeface="맑은 고딕"/>
              </a:rPr>
              <a:t>Q &amp;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1206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맑은 고딕"/>
              </a:rPr>
              <a:t>질문이 있으시면 말씀해 주세요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맑은 고딕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