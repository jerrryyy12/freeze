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2926080" cy="347472"/>
          </a:xfrm>
          <a:prstGeom prst="rect">
            <a:avLst/>
          </a:prstGeom>
          <a:solidFill>
            <a:srgbClr val="0D281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  <a:latin typeface="NanumBarunGothic"/>
              </a:rPr>
              <a:t>🎓 캡스톤 디자인 프로젝트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NanumBarunGothic"/>
              </a:rPr>
              <a:t>❄️ Freeze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94A3B8"/>
                </a:solidFill>
                <a:latin typeface="NanumBarunGothic"/>
              </a:rPr>
              <a:t>스마트 냉장고 식재료 관리 및 레시피 추천 시스템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NanumBarunGothic"/>
              </a:rPr>
              <a:t>온디바이스 TinyML · 인터넷 불필요 · 실기기 구동 완료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40480"/>
            <a:ext cx="2194560" cy="105156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NanumBarunGothic"/>
              </a:rPr>
              <a:t>👑 팀장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1596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NanumBarunGothic"/>
              </a:rPr>
              <a:t>유영서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3840480"/>
            <a:ext cx="2194560" cy="105156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0" y="3977639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NanumBarunGothic"/>
              </a:rPr>
              <a:t>💻 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31596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NanumBarunGothic"/>
              </a:rPr>
              <a:t>김문성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548640"/>
            <a:ext cx="1920240" cy="3419856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822960"/>
            <a:ext cx="2103120" cy="3739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NanumBarunGothic"/>
              </a:rP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  <a:latin typeface="NanumBarunGothic"/>
              </a:rPr>
              <a:t>목 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NanumBarunGothic"/>
              </a:rPr>
              <a:t>최종 목표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83080"/>
            <a:ext cx="3657600" cy="457200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NanumBarunGothic"/>
              </a:rPr>
              <a:t>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517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NanumBarunGothic"/>
              </a:rPr>
              <a:t>온디바이스 TinyML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NanumBarunGothic"/>
              </a:rPr>
              <a:t>인터넷 연결 없이 기기 자체에서
AI 추론 수행
교수 요구사항 완전 충족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783080"/>
            <a:ext cx="3657600" cy="457200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9659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NanumBarunGothic"/>
              </a:rPr>
              <a:t>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6517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NanumBarunGothic"/>
              </a:rPr>
              <a:t>실시간 식재료 인식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320040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NanumBarunGothic"/>
              </a:rPr>
              <a:t>MobileNetV2 기반 36종
식재료 카메라 촬영으로
자동 분류 및 수량 추정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84464" y="1783080"/>
            <a:ext cx="3657600" cy="457200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13064" y="19659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NanumBarunGothic"/>
              </a:rPr>
              <a:t>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3064" y="26517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NanumBarunGothic"/>
              </a:rPr>
              <a:t>스마트 냉장고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320040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NanumBarunGothic"/>
              </a:rPr>
              <a:t>냉장고 재고 자동 등록
유통기한 D-Day 관리
보유 재료 기반 레시피 추천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NanumBarunGothic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  <a:latin typeface="NanumBarunGothic"/>
              </a:rPr>
              <a:t>성 과 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NanumBarunGothic"/>
              </a:rPr>
              <a:t>최종 성과물 및 기여 사항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83080"/>
            <a:ext cx="475488" cy="475488"/>
          </a:xfrm>
          <a:prstGeom prst="rect">
            <a:avLst/>
          </a:prstGeom>
          <a:solidFill>
            <a:srgbClr val="0D281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NanumBarunGothic"/>
              </a:rPr>
              <a:t>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810512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NanumBarunGothic"/>
              </a:rPr>
              <a:t>Flutter Android 앱 완성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185416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NanumBarunGothic"/>
              </a:rPr>
              <a:t>Galaxy S25 Ultra 실기기 구동 확인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26080"/>
            <a:ext cx="475488" cy="475488"/>
          </a:xfrm>
          <a:prstGeom prst="rect">
            <a:avLst/>
          </a:prstGeom>
          <a:solidFill>
            <a:srgbClr val="0D281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9718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NanumBarunGothic"/>
              </a:rPr>
              <a:t>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953512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NanumBarunGothic"/>
              </a:rPr>
              <a:t>MobileNetV2 TFLite 모델 탑재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328416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NanumBarunGothic"/>
              </a:rPr>
              <a:t>2.7MB 경량 모델 · 36종 식재료 인식 · Kaggle Tesla T4 GPU로 학습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69080"/>
            <a:ext cx="475488" cy="475488"/>
          </a:xfrm>
          <a:prstGeom prst="rect">
            <a:avLst/>
          </a:prstGeom>
          <a:solidFill>
            <a:srgbClr val="0D281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1148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NanumBarunGothic"/>
              </a:rPr>
              <a:t>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096512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NanumBarunGothic"/>
              </a:rPr>
              <a:t>전체 사용자 플로우 구현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471416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NanumBarunGothic"/>
              </a:rPr>
              <a:t>촬영 → AI분류 → 냉장고등록 → 레시피추천 End-to-End 완성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212080"/>
            <a:ext cx="475488" cy="475488"/>
          </a:xfrm>
          <a:prstGeom prst="rect">
            <a:avLst/>
          </a:prstGeom>
          <a:solidFill>
            <a:srgbClr val="0D281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2578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NanumBarunGothic"/>
              </a:rPr>
              <a:t>🍽️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239512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NanumBarunGothic"/>
              </a:rPr>
              <a:t>레시피 API 연동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5614416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NanumBarunGothic"/>
              </a:rPr>
              <a:t>식품안전처 레시피 API + Spoonacular 이미지 AI 연동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2286000" cy="40690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NanumBarunGothic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  <a:latin typeface="NanumBarunGothic"/>
              </a:rPr>
              <a:t>팀 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NanumBarunGothic"/>
              </a:rPr>
              <a:t>팀원 및 팀장 역할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37360"/>
            <a:ext cx="5577840" cy="484632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737360"/>
            <a:ext cx="5577840" cy="777240"/>
          </a:xfrm>
          <a:prstGeom prst="rect">
            <a:avLst/>
          </a:prstGeom>
          <a:solidFill>
            <a:srgbClr val="0A180F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  <a:latin typeface="NanumBarunGothic"/>
              </a:rPr>
              <a:t>👑 TEAM LEADER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NanumBarunGothic"/>
              </a:rPr>
              <a:t>유영서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5257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NanumBarunGothic"/>
              </a:rPr>
              <a:t>• Flutter 앱 전체 아키텍처 설계 및 Android 빌드 환경 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5257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NanumBarunGothic"/>
              </a:rPr>
              <a:t>• TFLite AI 파이프라인 구현 (food_classifier, quantity_estimator)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23360"/>
            <a:ext cx="5257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NanumBarunGothic"/>
              </a:rPr>
              <a:t>• Kaggle GPU에서 MobileNetV2 학습 및 TFLite 변환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09160"/>
            <a:ext cx="5257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NanumBarunGothic"/>
              </a:rPr>
              <a:t>• 소셜 로그인 (Kakao/Google) · 레시피 API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94960"/>
            <a:ext cx="5257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NanumBarunGothic"/>
              </a:rPr>
              <a:t>• 한국 식품 키워드 DB 구축 · OCR+AI 병렬 처리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737360"/>
            <a:ext cx="5577840" cy="484632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737360"/>
            <a:ext cx="5577840" cy="777240"/>
          </a:xfrm>
          <a:prstGeom prst="rect">
            <a:avLst/>
          </a:prstGeom>
          <a:solidFill>
            <a:srgbClr val="0A180F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0A5FA"/>
                </a:solidFill>
                <a:latin typeface="NanumBarunGothic"/>
              </a:rPr>
              <a:t>💻 TEAM MEMBER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14884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NanumBarunGothic"/>
              </a:rPr>
              <a:t>김문성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651760"/>
            <a:ext cx="5257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NanumBarunGothic"/>
              </a:rPr>
              <a:t>• 전체 UI/UX 디자인 및 화면 구성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337560"/>
            <a:ext cx="5257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NanumBarunGothic"/>
              </a:rPr>
              <a:t>• 냉장고 식재료 관리 화면 개발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023360"/>
            <a:ext cx="5257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NanumBarunGothic"/>
              </a:rPr>
              <a:t>• 레시피 목록 / 상세 화면 개발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709160"/>
            <a:ext cx="5257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NanumBarunGothic"/>
              </a:rPr>
              <a:t>• 기능 테스트 및 버그 리포트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94960"/>
            <a:ext cx="5257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NanumBarunGothic"/>
              </a:rPr>
              <a:t>• 발표 자료 준비 · 사용자 시나리오 검토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NanumBarunGothic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  <a:latin typeface="NanumBarun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NanumBarunGothic"/>
              </a:rPr>
              <a:t>개발 환경 및 도구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577840" cy="210312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NanumBarunGothic"/>
              </a:rPr>
              <a:t>📱 프론트엔드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95728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NanumBarunGothic"/>
              </a:rPr>
              <a:t>Flutter 3.32 / Dart
Provider (상태관리) · SQLite (sqflite)
Google Fonts · Lottie 애니메이션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737360"/>
            <a:ext cx="5577840" cy="210312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NanumBarunGothic"/>
              </a:rPr>
              <a:t>🤖 AI / 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395728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NanumBarunGothic"/>
              </a:rPr>
              <a:t>tflite_flutter 0.12.1
MobileNetV2 (ImageNet Pretrained)
TensorFlow 2.x · Kaggle Tesla T4 GPU
INT8 Dynamic Range Quantization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69079"/>
            <a:ext cx="5577840" cy="210312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251959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NanumBarunGothic"/>
              </a:rPr>
              <a:t>🔌 API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727447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NanumBarunGothic"/>
              </a:rPr>
              <a:t>식품안전처 레시피 API
Spoonacular 이미지 AI
Kakao 소셜 로그인 · Google OAuth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4069079"/>
            <a:ext cx="5577840" cy="210312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251959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NanumBarunGothic"/>
              </a:rPr>
              <a:t>⚙️ 빌드/배포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727447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NanumBarunGothic"/>
              </a:rPr>
              <a:t>Android minSdk 21 / targetSdk 34
Gradle Kotlin DSL
TFLite noCompress 설정
Galaxy S25 Ultra 실기기 테스트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NanumBarunGothic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  <a:latin typeface="NanumBarunGothic"/>
              </a:rPr>
              <a:t>기  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NanumBarunGothic"/>
              </a:rPr>
              <a:t>주요 기능 및 기술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2011680" cy="1005840"/>
          </a:xfrm>
          <a:prstGeom prst="rect">
            <a:avLst/>
          </a:prstGeom>
          <a:solidFill>
            <a:srgbClr val="0F1F1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  <a:latin typeface="NanumBarunGothic"/>
              </a:rPr>
              <a:t>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042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NanumBarunGothic"/>
              </a:rPr>
              <a:t>카메라 촬영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0299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2C55E"/>
                </a:solidFill>
                <a:latin typeface="NanumBarunGothic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0048" y="1737360"/>
            <a:ext cx="2011680" cy="1005840"/>
          </a:xfrm>
          <a:prstGeom prst="rect">
            <a:avLst/>
          </a:prstGeom>
          <a:solidFill>
            <a:srgbClr val="0F1F1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0048" y="17830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  <a:latin typeface="NanumBarunGothic"/>
              </a:rPr>
              <a:t>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23042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NanumBarunGothic"/>
              </a:rPr>
              <a:t>AI 인식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0299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2C55E"/>
                </a:solidFill>
                <a:latin typeface="NanumBarunGothic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82896" y="1737360"/>
            <a:ext cx="2011680" cy="1005840"/>
          </a:xfrm>
          <a:prstGeom prst="rect">
            <a:avLst/>
          </a:prstGeom>
          <a:solidFill>
            <a:srgbClr val="0F1F1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82896" y="17830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  <a:latin typeface="NanumBarunGothic"/>
              </a:rPr>
              <a:t>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2896" y="23042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NanumBarunGothic"/>
              </a:rPr>
              <a:t>냉장고 등록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11696" y="20299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2C55E"/>
                </a:solidFill>
                <a:latin typeface="NanumBarunGothic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95744" y="1737360"/>
            <a:ext cx="2011680" cy="1005840"/>
          </a:xfrm>
          <a:prstGeom prst="rect">
            <a:avLst/>
          </a:prstGeom>
          <a:solidFill>
            <a:srgbClr val="0F1F1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95744" y="17830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  <a:latin typeface="NanumBarunGothic"/>
              </a:rPr>
              <a:t>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3042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NanumBarunGothic"/>
              </a:rPr>
              <a:t>레시피 추천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926080"/>
            <a:ext cx="8046720" cy="987552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358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  <a:latin typeface="NanumBarunGothic"/>
              </a:rPr>
              <a:t>🤖 온디바이스 TinyML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447287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NanumBarunGothic"/>
              </a:rPr>
              <a:t>MobileNetV2 2.7MB · 36종 식재료 · 수량 자동 추정 · 인터넷 불필요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41648"/>
            <a:ext cx="8046720" cy="987552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15137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  <a:latin typeface="NanumBarunGothic"/>
              </a:rPr>
              <a:t>📋 냉장고 재고 관리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562855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NanumBarunGothic"/>
              </a:rPr>
              <a:t>유통기한 D-Day 알림 · 카테고리 분류 · 슬라이드 삭제 · 실시간 동기화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57216"/>
            <a:ext cx="8046720" cy="987552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6694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  <a:latin typeface="NanumBarunGothic"/>
              </a:rPr>
              <a:t>🍽️ 레시피 추천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678423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NanumBarunGothic"/>
              </a:rPr>
              <a:t>보유 재료 기반 자동 추천 · 식품안전처 DB · 영양 정보 · 조리 시간 안내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371600"/>
            <a:ext cx="1920240" cy="341985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NanumBarunGothic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  <a:latin typeface="NanumBarunGothic"/>
              </a:rPr>
              <a:t>진 척 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NanumBarunGothic"/>
              </a:rPr>
              <a:t>완성도 및 기능 단위 진척도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anumBarunGothic"/>
              </a:rPr>
              <a:t>🧊 냉장고 관리 화면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39" y="16916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  <a:latin typeface="NanumBarunGothic"/>
              </a:rPr>
              <a:t>95%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39112"/>
            <a:ext cx="5029200" cy="137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039112"/>
            <a:ext cx="4777740" cy="1371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606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anumBarunGothic"/>
              </a:rPr>
              <a:t>🍳 레시피 추천 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26060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  <a:latin typeface="NanumBarunGothic"/>
              </a:rPr>
              <a:t>90%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53512"/>
            <a:ext cx="5029200" cy="137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953512"/>
            <a:ext cx="4526280" cy="1371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520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anumBarunGothic"/>
              </a:rPr>
              <a:t>👤 프로필 / 로그인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39" y="3520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  <a:latin typeface="NanumBarunGothic"/>
              </a:rPr>
              <a:t>95%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67912"/>
            <a:ext cx="5029200" cy="137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867912"/>
            <a:ext cx="4777740" cy="1371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434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anumBarunGothic"/>
              </a:rPr>
              <a:t>📸 카메라 인식 기능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39" y="44348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  <a:latin typeface="NanumBarunGothic"/>
              </a:rPr>
              <a:t>85%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82312"/>
            <a:ext cx="5029200" cy="137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782312"/>
            <a:ext cx="4274820" cy="1371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49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NanumBarunGothic"/>
              </a:rPr>
              <a:t>🤖 모델 인식 정확도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39" y="5349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NanumBarunGothic"/>
              </a:rPr>
              <a:t>70%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96712"/>
            <a:ext cx="5029200" cy="137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696712"/>
            <a:ext cx="3520440" cy="13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6400800"/>
            <a:ext cx="5212080" cy="292608"/>
          </a:xfrm>
          <a:prstGeom prst="rect">
            <a:avLst/>
          </a:prstGeom>
          <a:solidFill>
            <a:srgbClr val="0D2818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2823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  <a:latin typeface="NanumBarunGothic"/>
              </a:rPr>
              <a:t>전체 완성도  87%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691640"/>
            <a:ext cx="2788920" cy="214884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0" y="2148840"/>
            <a:ext cx="2788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2C55E"/>
                </a:solidFill>
                <a:latin typeface="NanumBarunGothic"/>
              </a:rPr>
              <a:t>36종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108960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NanumBarunGothic"/>
              </a:rPr>
              <a:t>인식 가능 식재료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59" y="1691640"/>
            <a:ext cx="2788920" cy="214884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59" y="2148840"/>
            <a:ext cx="2788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2C55E"/>
                </a:solidFill>
                <a:latin typeface="NanumBarunGothic"/>
              </a:rPr>
              <a:t>2.7 MB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59" y="3108960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NanumBarunGothic"/>
              </a:rPr>
              <a:t>TFLite 모델 크기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4114800"/>
            <a:ext cx="2788920" cy="214884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0" y="4572000"/>
            <a:ext cx="2788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2C55E"/>
                </a:solidFill>
                <a:latin typeface="NanumBarunGothic"/>
              </a:rPr>
              <a:t>3,115장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0" y="5532120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NanumBarunGothic"/>
              </a:rPr>
              <a:t>학습 데이터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52559" y="4114800"/>
            <a:ext cx="2788920" cy="214884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59" y="4572000"/>
            <a:ext cx="2788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2C55E"/>
                </a:solidFill>
                <a:latin typeface="NanumBarunGothic"/>
              </a:rPr>
              <a:t>&lt;1초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59" y="5532120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NanumBarunGothic"/>
              </a:rPr>
              <a:t>추론 속도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NanumBarunGothic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  <a:latin typeface="NanumBarunGothic"/>
              </a:rPr>
              <a:t>이슈 /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NanumBarunGothic"/>
              </a:rPr>
              <a:t>향후 과제 및 이슈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394960" cy="3108960"/>
          </a:xfrm>
          <a:prstGeom prst="rect">
            <a:avLst/>
          </a:prstGeom>
          <a:solidFill>
            <a:srgbClr val="180808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CA5A5"/>
                </a:solidFill>
                <a:latin typeface="NanumBarunGothic"/>
              </a:rPr>
              <a:t>⚠️ 현재 이슈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59152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BCACA"/>
                </a:solidFill>
                <a:latin typeface="NanumBarunGothic"/>
              </a:rPr>
              <a:t>• 오인식: 복숭아→감자(56%), 가지→오이 발생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BCACA"/>
                </a:solidFill>
                <a:latin typeface="NanumBarunGothic"/>
              </a:rPr>
              <a:t>• 도메인 불일치: 해외 데이터 vs 한국 실환경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58768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BCACA"/>
                </a:solidFill>
                <a:latin typeface="NanumBarunGothic"/>
              </a:rPr>
              <a:t>• 품종 미지원: 백도·청양고추 등 한국 특화 품종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737360"/>
            <a:ext cx="5486400" cy="3108960"/>
          </a:xfrm>
          <a:prstGeom prst="rect">
            <a:avLst/>
          </a:prstGeom>
          <a:solidFill>
            <a:srgbClr val="08180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87451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  <a:latin typeface="NanumBarunGothic"/>
              </a:rPr>
              <a:t>✅ 대응 방안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359152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EFAC"/>
                </a:solidFill>
                <a:latin typeface="NanumBarunGothic"/>
              </a:rPr>
              <a:t>• 1.6TB 한국 식재료 데이터셋으로 재학습 예정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01752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EFAC"/>
                </a:solidFill>
                <a:latin typeface="NanumBarunGothic"/>
              </a:rPr>
              <a:t>• RTX 5080 로컬 PC + CUDA 12.8 환경 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675887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EFAC"/>
                </a:solidFill>
                <a:latin typeface="NanumBarunGothic"/>
              </a:rPr>
              <a:t>• 쌀 품종 등 한국 특화 100+ 클래스 확장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334256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EFAC"/>
                </a:solidFill>
                <a:latin typeface="NanumBarunGothic"/>
              </a:rPr>
              <a:t>• 신뢰도 낮을 때 수동 입력 유도 UX 추가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074920"/>
            <a:ext cx="1691640" cy="301752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2423160" y="5120640"/>
            <a:ext cx="4206240" cy="86868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06040" y="525780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NanumBarunGothic"/>
              </a:rPr>
              <a:t>단기: 한국 데이터 재학습 → 정확도 85%+ 달성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23160" y="6080760"/>
            <a:ext cx="4206240" cy="640080"/>
          </a:xfrm>
          <a:prstGeom prst="rect">
            <a:avLst/>
          </a:prstGeom>
          <a:solidFill>
            <a:srgbClr val="0F1F14"/>
          </a:solidFill>
          <a:ln w="12700">
            <a:solidFill>
              <a:srgbClr val="1E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619048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NanumBarunGothic"/>
              </a:rPr>
              <a:t>장기: 1.6TB 전체 학습 → 한국 식문화 특화 모델 완성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NanumBarunGothic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0" b="1" i="0">
                <a:solidFill>
                  <a:srgbClr val="22C55E"/>
                </a:solidFill>
                <a:latin typeface="NanumBarun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317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  <a:latin typeface="NanumBarunGothic"/>
              </a:rPr>
              <a:t>스마트 냉장고 Freeze 프로젝트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2743200" cy="594360"/>
          </a:xfrm>
          <a:prstGeom prst="rect">
            <a:avLst/>
          </a:prstGeom>
          <a:solidFill>
            <a:srgbClr val="0F1F1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NanumBarunGothic"/>
              </a:rPr>
              <a:t>✅ TinyML 구현 완료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7872" y="3108960"/>
            <a:ext cx="2743200" cy="594360"/>
          </a:xfrm>
          <a:prstGeom prst="rect">
            <a:avLst/>
          </a:prstGeom>
          <a:solidFill>
            <a:srgbClr val="0F1F1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7872" y="3200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NanumBarunGothic"/>
              </a:rPr>
              <a:t>✅ 실기기 구동 확인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47103" y="3108960"/>
            <a:ext cx="2743200" cy="594360"/>
          </a:xfrm>
          <a:prstGeom prst="rect">
            <a:avLst/>
          </a:prstGeom>
          <a:solidFill>
            <a:srgbClr val="0F1F1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3" y="3200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NanumBarunGothic"/>
              </a:rPr>
              <a:t>✅ 36종 식재료 인식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46336" y="3108960"/>
            <a:ext cx="2743200" cy="594360"/>
          </a:xfrm>
          <a:prstGeom prst="rect">
            <a:avLst/>
          </a:prstGeom>
          <a:solidFill>
            <a:srgbClr val="0F1F1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46336" y="3200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NanumBarunGothic"/>
              </a:rPr>
              <a:t>✅ 전체 플로우 완성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4023360"/>
            <a:ext cx="5486400" cy="1737360"/>
          </a:xfrm>
          <a:prstGeom prst="rect">
            <a:avLst/>
          </a:prstGeom>
          <a:solidFill>
            <a:srgbClr val="0F1F1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4187952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2C55E"/>
                </a:solidFill>
                <a:latin typeface="NanumBarunGothic"/>
              </a:rPr>
              <a:t>Q &amp;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800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NanumBarunGothic"/>
              </a:rPr>
              <a:t>질문이 있으시면 말씀해 주세요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334155"/>
                </a:solidFill>
                <a:latin typeface="NanumBarunGothic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